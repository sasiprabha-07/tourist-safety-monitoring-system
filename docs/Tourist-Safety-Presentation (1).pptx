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0"/>
            <a:ext cx="5029200" cy="514350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9144000" cy="164592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279392"/>
            <a:ext cx="9144000" cy="7315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822960"/>
            <a:ext cx="73152" cy="256032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0" y="731520"/>
            <a:ext cx="1371600" cy="1371600"/>
          </a:xfrm>
          <a:prstGeom prst="ellipse">
            <a:avLst/>
          </a:prstGeom>
          <a:solidFill>
            <a:srgbClr val="00ACC1">
              <a:alpha val="20000"/>
            </a:srgbClr>
          </a:solidFill>
          <a:ln w="25400">
            <a:solidFill>
              <a:srgbClr val="00AC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0" y="914400"/>
            <a:ext cx="1005840" cy="1005840"/>
          </a:xfrm>
          <a:prstGeom prst="ellipse">
            <a:avLst/>
          </a:prstGeom>
          <a:solidFill>
            <a:srgbClr val="00ACC1">
              <a:alpha val="40000"/>
            </a:srgbClr>
          </a:solidFill>
          <a:ln w="19050">
            <a:solidFill>
              <a:srgbClr val="00AC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0" y="2011680"/>
            <a:ext cx="2926080" cy="2926080"/>
          </a:xfrm>
          <a:prstGeom prst="ellipse">
            <a:avLst/>
          </a:prstGeom>
          <a:solidFill>
            <a:srgbClr val="1565C0">
              <a:alpha val="15000"/>
            </a:srgbClr>
          </a:solidFill>
          <a:ln w="19050">
            <a:solidFill>
              <a:srgbClr val="1E88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0" y="274320"/>
            <a:ext cx="274320" cy="274320"/>
          </a:xfrm>
          <a:prstGeom prst="ellipse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0" y="731520"/>
            <a:ext cx="164592" cy="164592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0" y="1280160"/>
            <a:ext cx="201168" cy="201168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685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ACC1"/>
                </a:solidFill>
              </a:rPr>
              <a:t>MINI PROJECT PRESENTATION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105156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 Safety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594360" y="182880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System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594360" y="2606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0BEC5"/>
                </a:solidFill>
              </a:rPr>
              <a:t>Monitor • Protect • Respond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43434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Full Stack Web Application  |  Java Spring Boot + MySQL + HTML/CSS/JS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Academic Year 2025–26  |  Department of Computer Science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F"/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</a:rPr>
              <a:t>TABLE OF CONTENTS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3931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0120"/>
            <a:ext cx="64008" cy="804672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33856"/>
            <a:ext cx="438912" cy="438912"/>
          </a:xfrm>
          <a:prstGeom prst="ellipse">
            <a:avLst/>
          </a:prstGeom>
          <a:solidFill>
            <a:srgbClr val="00ACC1">
              <a:alpha val="85000"/>
            </a:srgbClr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338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96696" y="10332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Project Overview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96696" y="13624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Introduction &amp; problem statement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965960"/>
            <a:ext cx="3931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965960"/>
            <a:ext cx="64008" cy="80467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139696"/>
            <a:ext cx="438912" cy="438912"/>
          </a:xfrm>
          <a:prstGeom prst="ellipse">
            <a:avLst/>
          </a:prstGeom>
          <a:solidFill>
            <a:srgbClr val="1E88E5">
              <a:alpha val="85000"/>
            </a:srgbClr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1396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96696" y="20391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Objectives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96696" y="23682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Goals &amp; scope of the project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971800"/>
            <a:ext cx="3931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971800"/>
            <a:ext cx="64008" cy="80467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145536"/>
            <a:ext cx="438912" cy="438912"/>
          </a:xfrm>
          <a:prstGeom prst="ellipse">
            <a:avLst/>
          </a:prstGeom>
          <a:solidFill>
            <a:srgbClr val="7B1FA2">
              <a:alpha val="85000"/>
            </a:srgbClr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1455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96696" y="30449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System Architecture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96696" y="33741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Tech stack &amp; MVC design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977640"/>
            <a:ext cx="3931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977640"/>
            <a:ext cx="64008" cy="80467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151376"/>
            <a:ext cx="438912" cy="438912"/>
          </a:xfrm>
          <a:prstGeom prst="ellipse">
            <a:avLst/>
          </a:prstGeom>
          <a:solidFill>
            <a:srgbClr val="FFB300">
              <a:alpha val="85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151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96696" y="40507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Key Features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96696" y="437997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Core functionalities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92040" y="960120"/>
            <a:ext cx="3931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92040" y="960120"/>
            <a:ext cx="64008" cy="804672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0" y="1133856"/>
            <a:ext cx="438912" cy="438912"/>
          </a:xfrm>
          <a:prstGeom prst="ellipse">
            <a:avLst/>
          </a:prstGeom>
          <a:solidFill>
            <a:srgbClr val="EF5350">
              <a:alpha val="85000"/>
            </a:srgbClr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11338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568696" y="10332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Database Design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568696" y="13624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MySQL schema &amp; entities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92040" y="1965960"/>
            <a:ext cx="3931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92040" y="1965960"/>
            <a:ext cx="64008" cy="80467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29200" y="2139696"/>
            <a:ext cx="438912" cy="438912"/>
          </a:xfrm>
          <a:prstGeom prst="ellipse">
            <a:avLst/>
          </a:prstGeom>
          <a:solidFill>
            <a:srgbClr val="43A047">
              <a:alpha val="85000"/>
            </a:srgbClr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21396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568696" y="20391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REST API Endpoints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568696" y="23682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Backend service design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92040" y="2971800"/>
            <a:ext cx="3931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892040" y="2971800"/>
            <a:ext cx="64008" cy="804672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029200" y="3145536"/>
            <a:ext cx="438912" cy="438912"/>
          </a:xfrm>
          <a:prstGeom prst="ellipse">
            <a:avLst/>
          </a:prstGeom>
          <a:solidFill>
            <a:srgbClr val="FF8F00">
              <a:alpha val="85000"/>
            </a:srgbClr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0" y="31455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568696" y="30449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UI Screenshots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568696" y="33741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Frontend pages &amp; dashboard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892040" y="3977640"/>
            <a:ext cx="3931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892040" y="3977640"/>
            <a:ext cx="64008" cy="804672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029200" y="4151376"/>
            <a:ext cx="438912" cy="438912"/>
          </a:xfrm>
          <a:prstGeom prst="ellipse">
            <a:avLst/>
          </a:prstGeom>
          <a:solidFill>
            <a:srgbClr val="00E5CC">
              <a:alpha val="85000"/>
            </a:srgbClr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0" y="4151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568696" y="40507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Conclusion &amp; Future Scope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568696" y="437997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Summary &amp; enhancements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68680"/>
            <a:ext cx="5669280" cy="54864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28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ACC1"/>
                </a:solidFill>
              </a:rPr>
              <a:t>SLIDE 03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Project Overview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548640" cy="548640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10972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Context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37160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Tourism is a vital industry — yet tourist safety remains a major challenge globally. Incidents like medical emergencies, theft, or getting lost demand real-time response systems.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331720"/>
            <a:ext cx="548640" cy="54864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2331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Problem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60604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There is no centralized platform for authorities to track, monitor and respond to tourist safety incidents quickly and efficiently.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566160"/>
            <a:ext cx="548640" cy="548640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566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💡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35661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Solution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84048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TSMS is a full-stack web application that enables registration, real-time status tracking (Safe / In Danger / Missing), and alert management for tourists.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52160" y="457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CC1"/>
                </a:solidFill>
              </a:rPr>
              <a:t>Key Facts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806440" y="1005840"/>
            <a:ext cx="3108960" cy="530352"/>
          </a:xfrm>
          <a:prstGeom prst="rect">
            <a:avLst/>
          </a:prstGeom>
          <a:solidFill>
            <a:srgbClr val="0A1628">
              <a:alpha val="70000"/>
            </a:srgbClr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06440" y="1005840"/>
            <a:ext cx="54864" cy="530352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04241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CC1"/>
                </a:solidFill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43600" y="128016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Status Levels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806440" y="1664208"/>
            <a:ext cx="3108960" cy="530352"/>
          </a:xfrm>
          <a:prstGeom prst="rect">
            <a:avLst/>
          </a:prstGeom>
          <a:solidFill>
            <a:srgbClr val="0A1628">
              <a:alpha val="70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06440" y="1664208"/>
            <a:ext cx="54864" cy="53035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17007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300"/>
                </a:solidFill>
              </a:rPr>
              <a:t>REST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943600" y="193852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API Architecture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806440" y="2322576"/>
            <a:ext cx="3108960" cy="530352"/>
          </a:xfrm>
          <a:prstGeom prst="rect">
            <a:avLst/>
          </a:prstGeom>
          <a:solidFill>
            <a:srgbClr val="0A1628">
              <a:alpha val="70000"/>
            </a:srgbClr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06440" y="2322576"/>
            <a:ext cx="54864" cy="530352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0" y="23591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5350"/>
                </a:solidFill>
              </a:rPr>
              <a:t>MySQL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943600" y="259689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Database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806440" y="2980944"/>
            <a:ext cx="3108960" cy="530352"/>
          </a:xfrm>
          <a:prstGeom prst="rect">
            <a:avLst/>
          </a:prstGeom>
          <a:solidFill>
            <a:srgbClr val="0A1628">
              <a:alpha val="70000"/>
            </a:srgbClr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06440" y="2980944"/>
            <a:ext cx="54864" cy="530352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0" y="3017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5CC"/>
                </a:solidFill>
              </a:rPr>
              <a:t>MVC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943600" y="325526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Design Pattern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806440" y="3639312"/>
            <a:ext cx="3108960" cy="530352"/>
          </a:xfrm>
          <a:prstGeom prst="rect">
            <a:avLst/>
          </a:prstGeom>
          <a:solidFill>
            <a:srgbClr val="0A1628">
              <a:alpha val="70000"/>
            </a:srgbClr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06440" y="3639312"/>
            <a:ext cx="54864" cy="5303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0" y="36758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8E5"/>
                </a:solidFill>
              </a:rPr>
              <a:t>CRUD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943600" y="391363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Operations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806440" y="4297680"/>
            <a:ext cx="3108960" cy="530352"/>
          </a:xfrm>
          <a:prstGeom prst="rect">
            <a:avLst/>
          </a:prstGeom>
          <a:solidFill>
            <a:srgbClr val="0A1628">
              <a:alpha val="70000"/>
            </a:srgbClr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806440" y="4297680"/>
            <a:ext cx="54864" cy="53035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43342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1FA2"/>
                </a:solidFill>
              </a:rPr>
              <a:t>CORS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943600" y="457200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Enabled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F"/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5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AEDCF8"/>
                </a:solidFill>
              </a:rPr>
              <a:t>SLIDE 04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Project Objectives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92608" y="914400"/>
            <a:ext cx="28346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92608" y="914400"/>
            <a:ext cx="2834640" cy="1097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" y="1115568"/>
            <a:ext cx="475488" cy="475488"/>
          </a:xfrm>
          <a:prstGeom prst="ellipse">
            <a:avLst/>
          </a:prstGeom>
          <a:solidFill>
            <a:srgbClr val="1565C0">
              <a:alpha val="90000"/>
            </a:srgbClr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115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09728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Tourist Registration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9768" y="1691640"/>
            <a:ext cx="25786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</a:rPr>
              <a:t>Build a secure module for registering tourist profiles with personal and travel details.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55264" y="914400"/>
            <a:ext cx="28346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55264" y="914400"/>
            <a:ext cx="2834640" cy="10972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92424" y="1115568"/>
            <a:ext cx="475488" cy="475488"/>
          </a:xfrm>
          <a:prstGeom prst="ellipse">
            <a:avLst/>
          </a:prstGeom>
          <a:solidFill>
            <a:srgbClr val="00ACC1">
              <a:alpha val="90000"/>
            </a:srgbClr>
          </a:solidFill>
          <a:ln w="19050">
            <a:solidFill>
              <a:srgbClr val="00AC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92424" y="1115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68496" y="109728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Real-Time Status Tracking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92424" y="1691640"/>
            <a:ext cx="25786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</a:rPr>
              <a:t>Track safety status of each tourist — Safe, In Danger, or Missing — with instant updates.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0" y="914400"/>
            <a:ext cx="28346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914400"/>
            <a:ext cx="2834640" cy="10972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080" y="1115568"/>
            <a:ext cx="475488" cy="475488"/>
          </a:xfrm>
          <a:prstGeom prst="ellipse">
            <a:avLst/>
          </a:prstGeom>
          <a:solidFill>
            <a:srgbClr val="7B1FA2">
              <a:alpha val="90000"/>
            </a:srgbClr>
          </a:solidFill>
          <a:ln w="19050">
            <a:solidFill>
              <a:srgbClr val="7B1FA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1115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31152" y="109728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REST API Development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55080" y="1691640"/>
            <a:ext cx="25786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</a:rPr>
              <a:t>Design well-structured RESTful APIs (GET, POST, PUT, DELETE) following MVC architecture.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92608" y="2880360"/>
            <a:ext cx="28346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92608" y="2880360"/>
            <a:ext cx="2834640" cy="10972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9768" y="3081528"/>
            <a:ext cx="475488" cy="475488"/>
          </a:xfrm>
          <a:prstGeom prst="ellipse">
            <a:avLst/>
          </a:prstGeom>
          <a:solidFill>
            <a:srgbClr val="FFB300">
              <a:alpha val="90000"/>
            </a:srgbClr>
          </a:solidFill>
          <a:ln w="19050">
            <a:solidFill>
              <a:srgbClr val="FFB3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9768" y="3081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" y="306324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Authentication System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29768" y="3657600"/>
            <a:ext cx="25786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</a:rPr>
              <a:t>Implement login/registration for multiple users with session management using localStorage.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55264" y="2880360"/>
            <a:ext cx="28346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55264" y="2880360"/>
            <a:ext cx="2834640" cy="10972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92424" y="3081528"/>
            <a:ext cx="475488" cy="475488"/>
          </a:xfrm>
          <a:prstGeom prst="ellipse">
            <a:avLst/>
          </a:prstGeom>
          <a:solidFill>
            <a:srgbClr val="EF5350">
              <a:alpha val="90000"/>
            </a:srgbClr>
          </a:solidFill>
          <a:ln w="19050">
            <a:solidFill>
              <a:srgbClr val="EF53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92424" y="3081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968496" y="306324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Responsive Dashboard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392424" y="3657600"/>
            <a:ext cx="25786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</a:rPr>
              <a:t>Create a modern, responsive frontend with sidebar navigation, stats cards, and data tables.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217920" y="2880360"/>
            <a:ext cx="28346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217920" y="2880360"/>
            <a:ext cx="2834640" cy="10972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55080" y="3081528"/>
            <a:ext cx="475488" cy="475488"/>
          </a:xfrm>
          <a:prstGeom prst="ellipse">
            <a:avLst/>
          </a:prstGeom>
          <a:solidFill>
            <a:srgbClr val="43A047">
              <a:alpha val="90000"/>
            </a:srgbClr>
          </a:solidFill>
          <a:ln w="19050">
            <a:solidFill>
              <a:srgbClr val="43A04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3081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931152" y="306324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Database Integration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355080" y="3657600"/>
            <a:ext cx="25786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</a:rPr>
              <a:t>Use MySQL with Spring Data JPA to persist all tourist and user data with CRUD operations.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548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E5CC"/>
                </a:solidFill>
              </a:rPr>
              <a:t>SLIDE 05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91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System Architecture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2788920" cy="4023360"/>
          </a:xfrm>
          <a:prstGeom prst="rect">
            <a:avLst/>
          </a:prstGeom>
          <a:solidFill>
            <a:srgbClr val="0A1628">
              <a:alpha val="80000"/>
            </a:srgbClr>
          </a:solidFill>
          <a:ln w="25400">
            <a:solidFill>
              <a:srgbClr val="00ACC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68680"/>
            <a:ext cx="2788920" cy="56692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886968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🖥️  FRONTEND LAYER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1572768"/>
            <a:ext cx="2514600" cy="475488"/>
          </a:xfrm>
          <a:prstGeom prst="rect">
            <a:avLst/>
          </a:prstGeom>
          <a:solidFill>
            <a:srgbClr val="00ACC1">
              <a:alpha val="18000"/>
            </a:srgbClr>
          </a:solidFill>
          <a:ln w="12700">
            <a:solidFill>
              <a:srgbClr val="00ACC1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9105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▸  login.html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167128"/>
            <a:ext cx="2514600" cy="475488"/>
          </a:xfrm>
          <a:prstGeom prst="rect">
            <a:avLst/>
          </a:prstGeom>
          <a:solidFill>
            <a:srgbClr val="00ACC1">
              <a:alpha val="18000"/>
            </a:srgbClr>
          </a:solidFill>
          <a:ln w="12700">
            <a:solidFill>
              <a:srgbClr val="00ACC1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18541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▸  register.html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761488"/>
            <a:ext cx="2514600" cy="475488"/>
          </a:xfrm>
          <a:prstGeom prst="rect">
            <a:avLst/>
          </a:prstGeom>
          <a:solidFill>
            <a:srgbClr val="00ACC1">
              <a:alpha val="18000"/>
            </a:srgbClr>
          </a:solidFill>
          <a:ln w="12700">
            <a:solidFill>
              <a:srgbClr val="00ACC1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77977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▸  dashboard.html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3355848"/>
            <a:ext cx="2514600" cy="475488"/>
          </a:xfrm>
          <a:prstGeom prst="rect">
            <a:avLst/>
          </a:prstGeom>
          <a:solidFill>
            <a:srgbClr val="00ACC1">
              <a:alpha val="18000"/>
            </a:srgbClr>
          </a:solidFill>
          <a:ln w="12700">
            <a:solidFill>
              <a:srgbClr val="00ACC1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37413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▸  CSS3 + Vanilla JS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3950208"/>
            <a:ext cx="2514600" cy="475488"/>
          </a:xfrm>
          <a:prstGeom prst="rect">
            <a:avLst/>
          </a:prstGeom>
          <a:solidFill>
            <a:srgbClr val="00ACC1">
              <a:alpha val="18000"/>
            </a:srgbClr>
          </a:solidFill>
          <a:ln w="12700">
            <a:solidFill>
              <a:srgbClr val="00ACC1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96849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▸  Fetch API (REST calls)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37560" y="868680"/>
            <a:ext cx="2788920" cy="4023360"/>
          </a:xfrm>
          <a:prstGeom prst="rect">
            <a:avLst/>
          </a:prstGeom>
          <a:solidFill>
            <a:srgbClr val="0A1628">
              <a:alpha val="80000"/>
            </a:srgbClr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37560" y="868680"/>
            <a:ext cx="2788920" cy="5669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886968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⚙️  BACKEND LAYER (Spring Boot)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74720" y="1572768"/>
            <a:ext cx="2514600" cy="475488"/>
          </a:xfrm>
          <a:prstGeom prst="rect">
            <a:avLst/>
          </a:prstGeom>
          <a:solidFill>
            <a:srgbClr val="1565C0">
              <a:alpha val="18000"/>
            </a:srgbClr>
          </a:solidFill>
          <a:ln w="12700">
            <a:solidFill>
              <a:srgbClr val="1565C0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20440" y="159105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▸  AuthController.java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74720" y="2167128"/>
            <a:ext cx="2514600" cy="475488"/>
          </a:xfrm>
          <a:prstGeom prst="rect">
            <a:avLst/>
          </a:prstGeom>
          <a:solidFill>
            <a:srgbClr val="1565C0">
              <a:alpha val="18000"/>
            </a:srgbClr>
          </a:solidFill>
          <a:ln w="12700">
            <a:solidFill>
              <a:srgbClr val="1565C0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20440" y="218541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▸  TouristController.java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74720" y="2761488"/>
            <a:ext cx="2514600" cy="475488"/>
          </a:xfrm>
          <a:prstGeom prst="rect">
            <a:avLst/>
          </a:prstGeom>
          <a:solidFill>
            <a:srgbClr val="1565C0">
              <a:alpha val="18000"/>
            </a:srgbClr>
          </a:solidFill>
          <a:ln w="12700">
            <a:solidFill>
              <a:srgbClr val="1565C0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20440" y="277977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▸  AuthService.java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74720" y="3355848"/>
            <a:ext cx="2514600" cy="475488"/>
          </a:xfrm>
          <a:prstGeom prst="rect">
            <a:avLst/>
          </a:prstGeom>
          <a:solidFill>
            <a:srgbClr val="1565C0">
              <a:alpha val="18000"/>
            </a:srgbClr>
          </a:solidFill>
          <a:ln w="12700">
            <a:solidFill>
              <a:srgbClr val="1565C0">
                <a:alpha val="5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20440" y="337413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▸  TouristService.java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474720" y="3950208"/>
            <a:ext cx="2514600" cy="475488"/>
          </a:xfrm>
          <a:prstGeom prst="rect">
            <a:avLst/>
          </a:prstGeom>
          <a:solidFill>
            <a:srgbClr val="1565C0">
              <a:alpha val="18000"/>
            </a:srgbClr>
          </a:solidFill>
          <a:ln w="12700">
            <a:solidFill>
              <a:srgbClr val="1565C0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20440" y="396849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▸  CORS Configuration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55080" y="868680"/>
            <a:ext cx="2788920" cy="4023360"/>
          </a:xfrm>
          <a:prstGeom prst="rect">
            <a:avLst/>
          </a:prstGeom>
          <a:solidFill>
            <a:srgbClr val="0A1628">
              <a:alpha val="80000"/>
            </a:srgbClr>
          </a:solidFill>
          <a:ln w="25400">
            <a:solidFill>
              <a:srgbClr val="7B1FA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355080" y="868680"/>
            <a:ext cx="2788920" cy="56692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886968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🗄️  DATABASE LAYER (MySQL)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492240" y="1572768"/>
            <a:ext cx="2514600" cy="475488"/>
          </a:xfrm>
          <a:prstGeom prst="rect">
            <a:avLst/>
          </a:prstGeom>
          <a:solidFill>
            <a:srgbClr val="7B1FA2">
              <a:alpha val="18000"/>
            </a:srgbClr>
          </a:solidFill>
          <a:ln w="12700">
            <a:solidFill>
              <a:srgbClr val="7B1FA2">
                <a:alpha val="5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37960" y="159105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▸  tourist table (id, name, location, status)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492240" y="2167128"/>
            <a:ext cx="2514600" cy="475488"/>
          </a:xfrm>
          <a:prstGeom prst="rect">
            <a:avLst/>
          </a:prstGeom>
          <a:solidFill>
            <a:srgbClr val="7B1FA2">
              <a:alpha val="18000"/>
            </a:srgbClr>
          </a:solidFill>
          <a:ln w="12700">
            <a:solidFill>
              <a:srgbClr val="7B1FA2">
                <a:alpha val="5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37960" y="218541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▸  users table (id, username, password)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92240" y="2761488"/>
            <a:ext cx="2514600" cy="475488"/>
          </a:xfrm>
          <a:prstGeom prst="rect">
            <a:avLst/>
          </a:prstGeom>
          <a:solidFill>
            <a:srgbClr val="7B1FA2">
              <a:alpha val="18000"/>
            </a:srgbClr>
          </a:solidFill>
          <a:ln w="12700">
            <a:solidFill>
              <a:srgbClr val="7B1FA2">
                <a:alpha val="5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37960" y="277977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▸  Spring Data JPA / Hibernate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92240" y="3355848"/>
            <a:ext cx="2514600" cy="475488"/>
          </a:xfrm>
          <a:prstGeom prst="rect">
            <a:avLst/>
          </a:prstGeom>
          <a:solidFill>
            <a:srgbClr val="7B1FA2">
              <a:alpha val="18000"/>
            </a:srgbClr>
          </a:solidFill>
          <a:ln w="12700">
            <a:solidFill>
              <a:srgbClr val="7B1FA2">
                <a:alpha val="5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337413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▸  Auto DDL via JPA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492240" y="3950208"/>
            <a:ext cx="2514600" cy="475488"/>
          </a:xfrm>
          <a:prstGeom prst="rect">
            <a:avLst/>
          </a:prstGeom>
          <a:solidFill>
            <a:srgbClr val="7B1FA2">
              <a:alpha val="18000"/>
            </a:srgbClr>
          </a:solidFill>
          <a:ln w="12700">
            <a:solidFill>
              <a:srgbClr val="7B1FA2">
                <a:alpha val="5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37960" y="396849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▸  CRUD Operations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063240" y="2907792"/>
            <a:ext cx="274320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310128" y="2834640"/>
            <a:ext cx="164592" cy="201168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080760" y="2907792"/>
            <a:ext cx="274320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27648" y="2834640"/>
            <a:ext cx="164592" cy="201168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F"/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548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AEDCF8"/>
                </a:solidFill>
              </a:rPr>
              <a:t>SLIDE 06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9144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Features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92608" y="91440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92608" y="914400"/>
            <a:ext cx="64008" cy="1828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1097280"/>
            <a:ext cx="640080" cy="640080"/>
          </a:xfrm>
          <a:prstGeom prst="ellipse">
            <a:avLst/>
          </a:prstGeom>
          <a:solidFill>
            <a:srgbClr val="1565C0">
              <a:alpha val="85000"/>
            </a:srgbClr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52728" y="11155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Multi-User Auth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" y="1828800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Register &amp; login for any user via localStorage (no backend required). Admin account always pre-seeded.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55264" y="91440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55264" y="914400"/>
            <a:ext cx="64008" cy="182880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38144" y="1097280"/>
            <a:ext cx="640080" cy="640080"/>
          </a:xfrm>
          <a:prstGeom prst="ellipse">
            <a:avLst/>
          </a:prstGeom>
          <a:solidFill>
            <a:srgbClr val="00ACC1">
              <a:alpha val="85000"/>
            </a:srgbClr>
          </a:solidFill>
          <a:ln w="19050">
            <a:solidFill>
              <a:srgbClr val="00AC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38144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215384" y="11155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Live Dashboard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38144" y="1828800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Real-time stats: Total, Safe, In Danger &amp; Missing tourists with animated progress bars.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91440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914400"/>
            <a:ext cx="64008" cy="182880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1097280"/>
            <a:ext cx="640080" cy="640080"/>
          </a:xfrm>
          <a:prstGeom prst="ellipse">
            <a:avLst/>
          </a:prstGeom>
          <a:solidFill>
            <a:srgbClr val="7B1FA2">
              <a:alpha val="85000"/>
            </a:srgbClr>
          </a:solidFill>
          <a:ln w="19050">
            <a:solidFill>
              <a:srgbClr val="7B1FA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➕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178040" y="11155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Add &amp; Manage Tourists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0" y="1828800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CRUD operations — add, edit status, delete tourist records. Search and filter by name, location, status.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92608" y="292608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92608" y="2926080"/>
            <a:ext cx="64008" cy="182880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" y="3108960"/>
            <a:ext cx="640080" cy="640080"/>
          </a:xfrm>
          <a:prstGeom prst="ellipse">
            <a:avLst/>
          </a:prstGeom>
          <a:solidFill>
            <a:srgbClr val="EF5350">
              <a:alpha val="85000"/>
            </a:srgbClr>
          </a:solidFill>
          <a:ln w="19050">
            <a:solidFill>
              <a:srgbClr val="EF53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🚨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252728" y="312724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Safety Status Tracking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5488" y="3840480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Three clear status levels: ✅ Safe | ⚠️ In Danger | 🔍 Missing. Colour-coded for instant visual recognition.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55264" y="292608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55264" y="2926080"/>
            <a:ext cx="64008" cy="18288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38144" y="3108960"/>
            <a:ext cx="640080" cy="640080"/>
          </a:xfrm>
          <a:prstGeom prst="ellipse">
            <a:avLst/>
          </a:prstGeom>
          <a:solidFill>
            <a:srgbClr val="FFB300">
              <a:alpha val="85000"/>
            </a:srgbClr>
          </a:solidFill>
          <a:ln w="19050">
            <a:solidFill>
              <a:srgbClr val="FFB3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38144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4215384" y="312724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REST API Backend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438144" y="3840480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Full REST API with Spring Boot — GET, POST, PUT, DELETE endpoints with CORS enabled for cross-origin calls.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17920" y="292608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217920" y="2926080"/>
            <a:ext cx="64008" cy="182880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00800" y="3108960"/>
            <a:ext cx="640080" cy="640080"/>
          </a:xfrm>
          <a:prstGeom prst="ellipse">
            <a:avLst/>
          </a:prstGeom>
          <a:solidFill>
            <a:srgbClr val="43A047">
              <a:alpha val="85000"/>
            </a:srgbClr>
          </a:solidFill>
          <a:ln w="19050">
            <a:solidFill>
              <a:srgbClr val="43A04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0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7178040" y="312724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Responsive UI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400800" y="3840480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Dark-themed modern UI with sidebar navigation, modal dialogs, toast notifications and mobile support.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548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43A047"/>
                </a:solidFill>
              </a:rPr>
              <a:t>SLIDE 07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Database Design — MySQL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868680"/>
            <a:ext cx="4023360" cy="3931920"/>
          </a:xfrm>
          <a:prstGeom prst="rect">
            <a:avLst/>
          </a:prstGeom>
          <a:solidFill>
            <a:srgbClr val="0D2B55"/>
          </a:solidFill>
          <a:ln w="25400">
            <a:solidFill>
              <a:srgbClr val="00ACC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68680"/>
            <a:ext cx="4023360" cy="50292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869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🗄️  TABLE: tourist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63040"/>
            <a:ext cx="3840480" cy="566928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1600200"/>
            <a:ext cx="384048" cy="292608"/>
          </a:xfrm>
          <a:prstGeom prst="roundRect">
            <a:avLst>
              <a:gd name="adj" fmla="val 15625"/>
            </a:avLst>
          </a:prstGeom>
          <a:solidFill>
            <a:srgbClr val="FFB300">
              <a:alpha val="80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60020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300"/>
                </a:solidFill>
              </a:rPr>
              <a:t>PK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32688" y="15179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32688" y="17556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BIGINT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304288" y="15727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Auto-increment primary key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2121408"/>
            <a:ext cx="3840480" cy="566928"/>
          </a:xfrm>
          <a:prstGeom prst="rect">
            <a:avLst/>
          </a:prstGeom>
          <a:solidFill>
            <a:srgbClr val="0D1B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" y="2258568"/>
            <a:ext cx="384048" cy="292608"/>
          </a:xfrm>
          <a:prstGeom prst="roundRect">
            <a:avLst>
              <a:gd name="adj" fmla="val 15625"/>
            </a:avLst>
          </a:prstGeom>
          <a:solidFill>
            <a:srgbClr val="00ACC1">
              <a:alpha val="80000"/>
            </a:srgbClr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25856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CC1"/>
                </a:solidFill>
              </a:rPr>
              <a:t>NN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32688" y="21762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name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32688" y="241401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VARCHAR(255)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304288" y="223113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Full name of tourist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2779776"/>
            <a:ext cx="3840480" cy="566928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" y="2916936"/>
            <a:ext cx="384048" cy="292608"/>
          </a:xfrm>
          <a:prstGeom prst="roundRect">
            <a:avLst>
              <a:gd name="adj" fmla="val 15625"/>
            </a:avLst>
          </a:prstGeom>
          <a:solidFill>
            <a:srgbClr val="00ACC1">
              <a:alpha val="80000"/>
            </a:srgbClr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2916936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CC1"/>
                </a:solidFill>
              </a:rPr>
              <a:t>NN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32688" y="28346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location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32688" y="307238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VARCHAR(255)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304288" y="288950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Current tourist location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11480" y="3438144"/>
            <a:ext cx="3840480" cy="566928"/>
          </a:xfrm>
          <a:prstGeom prst="rect">
            <a:avLst/>
          </a:prstGeom>
          <a:solidFill>
            <a:srgbClr val="0D1B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" y="3575304"/>
            <a:ext cx="384048" cy="292608"/>
          </a:xfrm>
          <a:prstGeom prst="roundRect">
            <a:avLst>
              <a:gd name="adj" fmla="val 15625"/>
            </a:avLst>
          </a:prstGeom>
          <a:solidFill>
            <a:srgbClr val="EF5350">
              <a:alpha val="80000"/>
            </a:srgbClr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3575304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5350"/>
                </a:solidFill>
              </a:rPr>
              <a:t>NN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32688" y="34930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status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32688" y="37307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VARCHAR(50)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304288" y="35478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Safe / In Danger / Missing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00600" y="868680"/>
            <a:ext cx="4023360" cy="3931920"/>
          </a:xfrm>
          <a:prstGeom prst="rect">
            <a:avLst/>
          </a:prstGeom>
          <a:solidFill>
            <a:srgbClr val="0D2B55"/>
          </a:solidFill>
          <a:ln w="25400">
            <a:solidFill>
              <a:srgbClr val="7B1FA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00600" y="868680"/>
            <a:ext cx="4023360" cy="50292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8869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🗄️  TABLE: users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892040" y="1463040"/>
            <a:ext cx="3840480" cy="566928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56048" y="1600200"/>
            <a:ext cx="384048" cy="292608"/>
          </a:xfrm>
          <a:prstGeom prst="roundRect">
            <a:avLst>
              <a:gd name="adj" fmla="val 15625"/>
            </a:avLst>
          </a:prstGeom>
          <a:solidFill>
            <a:srgbClr val="FFB300">
              <a:alpha val="80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56048" y="160020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300"/>
                </a:solidFill>
              </a:rPr>
              <a:t>PK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13248" y="15179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id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413248" y="17556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BIGINT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858000" y="15727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Auto-increment primary key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92040" y="2121408"/>
            <a:ext cx="3840480" cy="566928"/>
          </a:xfrm>
          <a:prstGeom prst="rect">
            <a:avLst/>
          </a:prstGeom>
          <a:solidFill>
            <a:srgbClr val="0D1B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956048" y="2258568"/>
            <a:ext cx="384048" cy="292608"/>
          </a:xfrm>
          <a:prstGeom prst="roundRect">
            <a:avLst>
              <a:gd name="adj" fmla="val 15625"/>
            </a:avLst>
          </a:prstGeom>
          <a:solidFill>
            <a:srgbClr val="7B1FA2">
              <a:alpha val="80000"/>
            </a:srgbClr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56048" y="225856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1FA2"/>
                </a:solidFill>
              </a:rPr>
              <a:t>UQ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413248" y="21762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username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413248" y="24140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VARCHAR(255)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858000" y="223113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Unique login username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892040" y="2779776"/>
            <a:ext cx="3840480" cy="566928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956048" y="2916936"/>
            <a:ext cx="384048" cy="292608"/>
          </a:xfrm>
          <a:prstGeom prst="roundRect">
            <a:avLst>
              <a:gd name="adj" fmla="val 15625"/>
            </a:avLst>
          </a:prstGeom>
          <a:solidFill>
            <a:srgbClr val="EF5350">
              <a:alpha val="80000"/>
            </a:srgbClr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56048" y="2916936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5350"/>
                </a:solidFill>
              </a:rPr>
              <a:t>NN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413248" y="28346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password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413248" y="30723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VARCHAR(255)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858000" y="288950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User password (plain text)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892040" y="3438144"/>
            <a:ext cx="3840480" cy="566928"/>
          </a:xfrm>
          <a:prstGeom prst="rect">
            <a:avLst/>
          </a:prstGeom>
          <a:solidFill>
            <a:srgbClr val="0D1B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956048" y="3575304"/>
            <a:ext cx="384048" cy="292608"/>
          </a:xfrm>
          <a:prstGeom prst="roundRect">
            <a:avLst>
              <a:gd name="adj" fmla="val 15625"/>
            </a:avLst>
          </a:prstGeom>
          <a:solidFill>
            <a:srgbClr val="00E5CC">
              <a:alpha val="80000"/>
            </a:srgbClr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56048" y="3575304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5CC"/>
                </a:solidFill>
              </a:rPr>
              <a:t>—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413248" y="34930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full_name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5413248" y="37307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VARCHAR(255)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858000" y="35478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User's full display name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F"/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548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AEDCF8"/>
                </a:solidFill>
              </a:rPr>
              <a:t>SLIDE 08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9144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REST API Endpoints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8595360" cy="41148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59536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Method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34440" y="85953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Endpoint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0" y="85953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Description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0" y="85953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Controller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298448"/>
            <a:ext cx="8595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" y="1371600"/>
            <a:ext cx="749808" cy="310896"/>
          </a:xfrm>
          <a:prstGeom prst="roundRect">
            <a:avLst>
              <a:gd name="adj" fmla="val 17647"/>
            </a:avLst>
          </a:prstGeom>
          <a:solidFill>
            <a:srgbClr val="43A047">
              <a:alpha val="85000"/>
            </a:srgbClr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371600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3A047"/>
                </a:solidFill>
              </a:rPr>
              <a:t>POST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88720" y="138988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/api/auth/login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182112" y="138988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Validate username &amp; password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39712" y="138988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AuthController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1847088"/>
            <a:ext cx="8595360" cy="475488"/>
          </a:xfrm>
          <a:prstGeom prst="rect">
            <a:avLst/>
          </a:prstGeom>
          <a:solidFill>
            <a:srgbClr val="EEF3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1920240"/>
            <a:ext cx="749808" cy="310896"/>
          </a:xfrm>
          <a:prstGeom prst="roundRect">
            <a:avLst>
              <a:gd name="adj" fmla="val 17647"/>
            </a:avLst>
          </a:prstGeom>
          <a:solidFill>
            <a:srgbClr val="43A047">
              <a:alpha val="85000"/>
            </a:srgbClr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1920240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3A047"/>
                </a:solidFill>
              </a:rPr>
              <a:t>POST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188720" y="193852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/api/auth/register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182112" y="193852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Create new user account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39712" y="193852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AuthController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2395728"/>
            <a:ext cx="8595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" y="2468880"/>
            <a:ext cx="749808" cy="310896"/>
          </a:xfrm>
          <a:prstGeom prst="roundRect">
            <a:avLst>
              <a:gd name="adj" fmla="val 17647"/>
            </a:avLst>
          </a:prstGeom>
          <a:solidFill>
            <a:srgbClr val="00ACC1">
              <a:alpha val="85000"/>
            </a:srgbClr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2468880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ACC1"/>
                </a:solidFill>
              </a:rPr>
              <a:t>GET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188720" y="248716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/api/tourists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182112" y="248716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Retrieve all tourist records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39712" y="248716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TouristController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2944368"/>
            <a:ext cx="8595360" cy="475488"/>
          </a:xfrm>
          <a:prstGeom prst="rect">
            <a:avLst/>
          </a:prstGeom>
          <a:solidFill>
            <a:srgbClr val="EEF3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7472" y="3017520"/>
            <a:ext cx="749808" cy="310896"/>
          </a:xfrm>
          <a:prstGeom prst="roundRect">
            <a:avLst>
              <a:gd name="adj" fmla="val 17647"/>
            </a:avLst>
          </a:prstGeom>
          <a:solidFill>
            <a:srgbClr val="43A047">
              <a:alpha val="85000"/>
            </a:srgbClr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3017520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3A047"/>
                </a:solidFill>
              </a:rPr>
              <a:t>POST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188720" y="303580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/api/tourists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182112" y="303580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Add new tourist (name, location, status)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39712" y="303580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TouristController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3493008"/>
            <a:ext cx="8595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47472" y="3566160"/>
            <a:ext cx="749808" cy="310896"/>
          </a:xfrm>
          <a:prstGeom prst="roundRect">
            <a:avLst>
              <a:gd name="adj" fmla="val 17647"/>
            </a:avLst>
          </a:prstGeom>
          <a:solidFill>
            <a:srgbClr val="FF8F00">
              <a:alpha val="85000"/>
            </a:srgbClr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" y="3566160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8F00"/>
                </a:solidFill>
              </a:rPr>
              <a:t>PUT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188720" y="358444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/api/tourists/{id}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182112" y="358444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Update tourist name/location/status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839712" y="358444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TouristController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74320" y="4041648"/>
            <a:ext cx="8595360" cy="475488"/>
          </a:xfrm>
          <a:prstGeom prst="rect">
            <a:avLst/>
          </a:prstGeom>
          <a:solidFill>
            <a:srgbClr val="EEF3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47472" y="4114800"/>
            <a:ext cx="749808" cy="310896"/>
          </a:xfrm>
          <a:prstGeom prst="roundRect">
            <a:avLst>
              <a:gd name="adj" fmla="val 17647"/>
            </a:avLst>
          </a:prstGeom>
          <a:solidFill>
            <a:srgbClr val="EF5350">
              <a:alpha val="85000"/>
            </a:srgbClr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7472" y="4114800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5350"/>
                </a:solidFill>
              </a:rPr>
              <a:t>DELETE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188720" y="413308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/api/tourists/{id}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182112" y="413308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Remove tourist by ID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839712" y="413308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TouristController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solidFill>
            <a:srgbClr val="E8F4FD"/>
          </a:solidFill>
          <a:ln w="12700">
            <a:solidFill>
              <a:srgbClr val="C0D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1480" y="472744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🔒 All endpoints run on http://localhost:8080  |  CORS enabled for all origins  |  Responses in JSON format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548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9C27B0"/>
                </a:solidFill>
              </a:rPr>
              <a:t>SLIDE 09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Technology Stack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56032" y="804672"/>
            <a:ext cx="2029968" cy="4096512"/>
          </a:xfrm>
          <a:prstGeom prst="rect">
            <a:avLst/>
          </a:prstGeom>
          <a:solidFill>
            <a:srgbClr val="0D2B55"/>
          </a:solidFill>
          <a:ln w="25400">
            <a:solidFill>
              <a:srgbClr val="00ACC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804672"/>
            <a:ext cx="2029968" cy="50292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" y="8229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🖥️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13232" y="841248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Frontend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417320"/>
            <a:ext cx="1828800" cy="640080"/>
          </a:xfrm>
          <a:prstGeom prst="rect">
            <a:avLst/>
          </a:prstGeom>
          <a:solidFill>
            <a:srgbClr val="00ACC1">
              <a:alpha val="15000"/>
            </a:srgbClr>
          </a:solidFill>
          <a:ln w="12700">
            <a:solidFill>
              <a:srgbClr val="00ACC1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1453896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HTML5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0624" y="1746504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Page structure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221992"/>
            <a:ext cx="1828800" cy="640080"/>
          </a:xfrm>
          <a:prstGeom prst="rect">
            <a:avLst/>
          </a:prstGeom>
          <a:solidFill>
            <a:srgbClr val="00ACC1">
              <a:alpha val="15000"/>
            </a:srgbClr>
          </a:solidFill>
          <a:ln w="12700">
            <a:solidFill>
              <a:srgbClr val="00ACC1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" y="2258568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CSS3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0624" y="2551176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Styling &amp; layout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026664"/>
            <a:ext cx="1828800" cy="640080"/>
          </a:xfrm>
          <a:prstGeom prst="rect">
            <a:avLst/>
          </a:prstGeom>
          <a:solidFill>
            <a:srgbClr val="00ACC1">
              <a:alpha val="15000"/>
            </a:srgbClr>
          </a:solidFill>
          <a:ln w="12700">
            <a:solidFill>
              <a:srgbClr val="00ACC1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3063240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JavaScript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0624" y="335584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Interactivity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831336"/>
            <a:ext cx="1828800" cy="640080"/>
          </a:xfrm>
          <a:prstGeom prst="rect">
            <a:avLst/>
          </a:prstGeom>
          <a:solidFill>
            <a:srgbClr val="00ACC1">
              <a:alpha val="15000"/>
            </a:srgbClr>
          </a:solidFill>
          <a:ln w="12700">
            <a:solidFill>
              <a:srgbClr val="00ACC1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" y="386791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Fetch API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20624" y="416052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REST calls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450592" y="804672"/>
            <a:ext cx="2029968" cy="4096512"/>
          </a:xfrm>
          <a:prstGeom prst="rect">
            <a:avLst/>
          </a:prstGeom>
          <a:solidFill>
            <a:srgbClr val="0D2B55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450592" y="804672"/>
            <a:ext cx="2029968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96312" y="8229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2907792" y="841248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Backend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560320" y="1417320"/>
            <a:ext cx="1828800" cy="640080"/>
          </a:xfrm>
          <a:prstGeom prst="rect">
            <a:avLst/>
          </a:prstGeom>
          <a:solidFill>
            <a:srgbClr val="1565C0">
              <a:alpha val="15000"/>
            </a:srgbClr>
          </a:solidFill>
          <a:ln w="12700">
            <a:solidFill>
              <a:srgbClr val="1565C0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15184" y="1453896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Java 17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615184" y="1746504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Language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560320" y="2221992"/>
            <a:ext cx="1828800" cy="640080"/>
          </a:xfrm>
          <a:prstGeom prst="rect">
            <a:avLst/>
          </a:prstGeom>
          <a:solidFill>
            <a:srgbClr val="1565C0">
              <a:alpha val="15000"/>
            </a:srgbClr>
          </a:solidFill>
          <a:ln w="12700">
            <a:solidFill>
              <a:srgbClr val="1565C0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15184" y="2258568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Spring Boot 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615184" y="2551176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Framework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560320" y="3026664"/>
            <a:ext cx="1828800" cy="640080"/>
          </a:xfrm>
          <a:prstGeom prst="rect">
            <a:avLst/>
          </a:prstGeom>
          <a:solidFill>
            <a:srgbClr val="1565C0">
              <a:alpha val="15000"/>
            </a:srgbClr>
          </a:solidFill>
          <a:ln w="12700">
            <a:solidFill>
              <a:srgbClr val="1565C0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15184" y="3063240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Spring MVC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615184" y="335584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Architecture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560320" y="3831336"/>
            <a:ext cx="1828800" cy="640080"/>
          </a:xfrm>
          <a:prstGeom prst="rect">
            <a:avLst/>
          </a:prstGeom>
          <a:solidFill>
            <a:srgbClr val="1565C0">
              <a:alpha val="15000"/>
            </a:srgbClr>
          </a:solidFill>
          <a:ln w="12700">
            <a:solidFill>
              <a:srgbClr val="1565C0">
                <a:alpha val="4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15184" y="386791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Lombok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615184" y="416052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Boilerplate reduction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45152" y="804672"/>
            <a:ext cx="2029968" cy="4096512"/>
          </a:xfrm>
          <a:prstGeom prst="rect">
            <a:avLst/>
          </a:prstGeom>
          <a:solidFill>
            <a:srgbClr val="0D2B55"/>
          </a:solidFill>
          <a:ln w="25400">
            <a:solidFill>
              <a:srgbClr val="7B1FA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45152" y="804672"/>
            <a:ext cx="2029968" cy="50292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90872" y="8229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🗄️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102352" y="841248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Database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754880" y="1417320"/>
            <a:ext cx="1828800" cy="640080"/>
          </a:xfrm>
          <a:prstGeom prst="rect">
            <a:avLst/>
          </a:prstGeom>
          <a:solidFill>
            <a:srgbClr val="7B1FA2">
              <a:alpha val="15000"/>
            </a:srgbClr>
          </a:solidFill>
          <a:ln w="12700">
            <a:solidFill>
              <a:srgbClr val="7B1FA2">
                <a:alpha val="4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9744" y="1453896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MySQL 8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809744" y="1746504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RDBMS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754880" y="2221992"/>
            <a:ext cx="1828800" cy="640080"/>
          </a:xfrm>
          <a:prstGeom prst="rect">
            <a:avLst/>
          </a:prstGeom>
          <a:solidFill>
            <a:srgbClr val="7B1FA2">
              <a:alpha val="15000"/>
            </a:srgbClr>
          </a:solidFill>
          <a:ln w="12700">
            <a:solidFill>
              <a:srgbClr val="7B1FA2">
                <a:alpha val="4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09744" y="2258568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Spring Data JPA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809744" y="2551176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ORM layer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754880" y="3026664"/>
            <a:ext cx="1828800" cy="640080"/>
          </a:xfrm>
          <a:prstGeom prst="rect">
            <a:avLst/>
          </a:prstGeom>
          <a:solidFill>
            <a:srgbClr val="7B1FA2">
              <a:alpha val="15000"/>
            </a:srgbClr>
          </a:solidFill>
          <a:ln w="12700">
            <a:solidFill>
              <a:srgbClr val="7B1FA2">
                <a:alpha val="4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09744" y="3063240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Hibernate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809744" y="335584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Query engine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754880" y="3831336"/>
            <a:ext cx="1828800" cy="640080"/>
          </a:xfrm>
          <a:prstGeom prst="rect">
            <a:avLst/>
          </a:prstGeom>
          <a:solidFill>
            <a:srgbClr val="7B1FA2">
              <a:alpha val="15000"/>
            </a:srgbClr>
          </a:solidFill>
          <a:ln w="12700">
            <a:solidFill>
              <a:srgbClr val="7B1FA2">
                <a:alpha val="4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09744" y="386791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Auto DDL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4809744" y="416052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Table creation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839712" y="804672"/>
            <a:ext cx="2029968" cy="4096512"/>
          </a:xfrm>
          <a:prstGeom prst="rect">
            <a:avLst/>
          </a:prstGeom>
          <a:solidFill>
            <a:srgbClr val="0D2B55"/>
          </a:solidFill>
          <a:ln w="25400">
            <a:solidFill>
              <a:srgbClr val="FFB3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839712" y="804672"/>
            <a:ext cx="2029968" cy="5029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85432" y="8229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🛠️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7296912" y="841248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Dev Tools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949440" y="1417320"/>
            <a:ext cx="1828800" cy="640080"/>
          </a:xfrm>
          <a:prstGeom prst="rect">
            <a:avLst/>
          </a:prstGeom>
          <a:solidFill>
            <a:srgbClr val="FFB300">
              <a:alpha val="15000"/>
            </a:srgbClr>
          </a:solidFill>
          <a:ln w="12700">
            <a:solidFill>
              <a:srgbClr val="FFB300">
                <a:alpha val="4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04304" y="1453896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VS Code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7004304" y="1746504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IDE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949440" y="2221992"/>
            <a:ext cx="1828800" cy="640080"/>
          </a:xfrm>
          <a:prstGeom prst="rect">
            <a:avLst/>
          </a:prstGeom>
          <a:solidFill>
            <a:srgbClr val="FFB300">
              <a:alpha val="15000"/>
            </a:srgbClr>
          </a:solidFill>
          <a:ln w="12700">
            <a:solidFill>
              <a:srgbClr val="FFB300">
                <a:alpha val="40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004304" y="2258568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Maven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7004304" y="2551176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Build tool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949440" y="3026664"/>
            <a:ext cx="1828800" cy="640080"/>
          </a:xfrm>
          <a:prstGeom prst="rect">
            <a:avLst/>
          </a:prstGeom>
          <a:solidFill>
            <a:srgbClr val="FFB300">
              <a:alpha val="15000"/>
            </a:srgbClr>
          </a:solidFill>
          <a:ln w="12700">
            <a:solidFill>
              <a:srgbClr val="FFB300">
                <a:alpha val="40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004304" y="3063240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Postman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7004304" y="335584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API testing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6949440" y="3831336"/>
            <a:ext cx="1828800" cy="640080"/>
          </a:xfrm>
          <a:prstGeom prst="rect">
            <a:avLst/>
          </a:prstGeom>
          <a:solidFill>
            <a:srgbClr val="FFB300">
              <a:alpha val="15000"/>
            </a:srgbClr>
          </a:solidFill>
          <a:ln w="12700">
            <a:solidFill>
              <a:srgbClr val="FFB300">
                <a:alpha val="40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004304" y="386791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Live Server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7004304" y="416052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Frontend dev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77840" y="73152"/>
            <a:ext cx="3566160" cy="500176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743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B300"/>
                </a:solidFill>
              </a:rPr>
              <a:t>SLIDE 10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56692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Conclusion &amp;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0972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B300"/>
                </a:solidFill>
              </a:rPr>
              <a:t>Future Scope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1828800"/>
            <a:ext cx="5074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F"/>
                </a:solidFill>
              </a:rPr>
              <a:t>✅  Successfully built a full-stack Tourist Safety Management System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359152"/>
            <a:ext cx="5074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F"/>
                </a:solidFill>
              </a:rPr>
              <a:t>✅  Implemented secure multi-user authentication with localStorage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889504"/>
            <a:ext cx="5074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F"/>
                </a:solidFill>
              </a:rPr>
              <a:t>✅  REST APIs fully functional using Spring Boot MVC architecture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419856"/>
            <a:ext cx="5074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F"/>
                </a:solidFill>
              </a:rPr>
              <a:t>✅  MySQL integration with JPA for seamless CRUD operations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950208"/>
            <a:ext cx="5074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F"/>
                </a:solidFill>
              </a:rPr>
              <a:t>✅  Modern responsive UI works without running the backend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60720" y="4572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CC1"/>
                </a:solidFill>
              </a:rPr>
              <a:t>🚀 Future Enhancements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715000" y="960120"/>
            <a:ext cx="3154680" cy="475488"/>
          </a:xfrm>
          <a:prstGeom prst="rect">
            <a:avLst/>
          </a:prstGeom>
          <a:solidFill>
            <a:srgbClr val="0A1628">
              <a:alpha val="70000"/>
            </a:srgbClr>
          </a:solidFill>
          <a:ln w="12700">
            <a:solidFill>
              <a:srgbClr val="00ACC1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06440" y="978408"/>
            <a:ext cx="2999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</a:rPr>
              <a:t>📍  GPS-based real-time location tracking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715000" y="1527048"/>
            <a:ext cx="3154680" cy="475488"/>
          </a:xfrm>
          <a:prstGeom prst="rect">
            <a:avLst/>
          </a:prstGeom>
          <a:solidFill>
            <a:srgbClr val="0A1628">
              <a:alpha val="70000"/>
            </a:srgbClr>
          </a:solidFill>
          <a:ln w="12700">
            <a:solidFill>
              <a:srgbClr val="00ACC1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06440" y="1545336"/>
            <a:ext cx="2999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</a:rPr>
              <a:t>📲  Mobile app (Android/iOS)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715000" y="2093976"/>
            <a:ext cx="3154680" cy="475488"/>
          </a:xfrm>
          <a:prstGeom prst="rect">
            <a:avLst/>
          </a:prstGeom>
          <a:solidFill>
            <a:srgbClr val="0A1628">
              <a:alpha val="70000"/>
            </a:srgbClr>
          </a:solidFill>
          <a:ln w="12700">
            <a:solidFill>
              <a:srgbClr val="00ACC1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06440" y="2112264"/>
            <a:ext cx="2999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</a:rPr>
              <a:t>🔔  Push notifications for SOS alerts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715000" y="2660904"/>
            <a:ext cx="3154680" cy="475488"/>
          </a:xfrm>
          <a:prstGeom prst="rect">
            <a:avLst/>
          </a:prstGeom>
          <a:solidFill>
            <a:srgbClr val="0A1628">
              <a:alpha val="70000"/>
            </a:srgbClr>
          </a:solidFill>
          <a:ln w="12700">
            <a:solidFill>
              <a:srgbClr val="00ACC1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06440" y="2679192"/>
            <a:ext cx="2999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</a:rPr>
              <a:t>🤖  AI chatbot for tourist assistance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715000" y="3227832"/>
            <a:ext cx="3154680" cy="475488"/>
          </a:xfrm>
          <a:prstGeom prst="rect">
            <a:avLst/>
          </a:prstGeom>
          <a:solidFill>
            <a:srgbClr val="0A1628">
              <a:alpha val="70000"/>
            </a:srgbClr>
          </a:solidFill>
          <a:ln w="12700">
            <a:solidFill>
              <a:srgbClr val="00ACC1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06440" y="3246120"/>
            <a:ext cx="2999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</a:rPr>
              <a:t>📈  Analytics dashboard with charts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715000" y="3794760"/>
            <a:ext cx="3154680" cy="475488"/>
          </a:xfrm>
          <a:prstGeom prst="rect">
            <a:avLst/>
          </a:prstGeom>
          <a:solidFill>
            <a:srgbClr val="0A1628">
              <a:alpha val="70000"/>
            </a:srgbClr>
          </a:solidFill>
          <a:ln w="12700">
            <a:solidFill>
              <a:srgbClr val="00ACC1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06440" y="3813048"/>
            <a:ext cx="2999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</a:rPr>
              <a:t>🌐  Multi-language support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715000" y="4361688"/>
            <a:ext cx="3154680" cy="475488"/>
          </a:xfrm>
          <a:prstGeom prst="rect">
            <a:avLst/>
          </a:prstGeom>
          <a:solidFill>
            <a:srgbClr val="0A1628">
              <a:alpha val="70000"/>
            </a:srgbClr>
          </a:solidFill>
          <a:ln w="12700">
            <a:solidFill>
              <a:srgbClr val="00ACC1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06440" y="4379976"/>
            <a:ext cx="2999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</a:rPr>
              <a:t>🔒  JWT-based token authentication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256032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572000"/>
            <a:ext cx="9144000" cy="20116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731520" y="-731520"/>
            <a:ext cx="2743200" cy="2743200"/>
          </a:xfrm>
          <a:prstGeom prst="ellipse">
            <a:avLst/>
          </a:prstGeom>
          <a:solidFill>
            <a:srgbClr val="00ACC1">
              <a:alpha val="12000"/>
            </a:srgbClr>
          </a:solidFill>
          <a:ln w="12700">
            <a:solidFill>
              <a:srgbClr val="00ACC1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0" y="2926080"/>
            <a:ext cx="2286000" cy="2286000"/>
          </a:xfrm>
          <a:prstGeom prst="ellipse">
            <a:avLst/>
          </a:prstGeom>
          <a:solidFill>
            <a:srgbClr val="FFB300">
              <a:alpha val="12000"/>
            </a:srgbClr>
          </a:solidFill>
          <a:ln w="12700">
            <a:solidFill>
              <a:srgbClr val="FFB300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-274320"/>
            <a:ext cx="1828800" cy="1828800"/>
          </a:xfrm>
          <a:prstGeom prst="ellipse">
            <a:avLst/>
          </a:prstGeom>
          <a:solidFill>
            <a:srgbClr val="EF5350">
              <a:alpha val="12000"/>
            </a:srgbClr>
          </a:solidFill>
          <a:ln w="12700">
            <a:solidFill>
              <a:srgbClr val="EF5350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347472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🛡️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914400" y="13258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1371600" y="221284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00E5CC"/>
                </a:solidFill>
              </a:rPr>
              <a:t>Tourist Safety Management System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828800" y="267004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0BEC5"/>
                </a:solidFill>
              </a:rPr>
              <a:t>A Full-Stack Web Application — College Mini Project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05840" y="3337560"/>
            <a:ext cx="2286000" cy="1051560"/>
          </a:xfrm>
          <a:prstGeom prst="rect">
            <a:avLst/>
          </a:prstGeom>
          <a:solidFill>
            <a:srgbClr val="0D2B55"/>
          </a:solidFill>
          <a:ln w="19050">
            <a:solidFill>
              <a:srgbClr val="00ACC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97280" y="34015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CC1"/>
                </a:solidFill>
              </a:rPr>
              <a:t>Frontend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97280" y="3749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HTML · CSS · JavaScript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66160" y="3337560"/>
            <a:ext cx="2286000" cy="1051560"/>
          </a:xfrm>
          <a:prstGeom prst="rect">
            <a:avLst/>
          </a:prstGeom>
          <a:solidFill>
            <a:srgbClr val="0D2B55"/>
          </a:solidFill>
          <a:ln w="19050">
            <a:solidFill>
              <a:srgbClr val="00ACC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0" y="34015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CC1"/>
                </a:solidFill>
              </a:rPr>
              <a:t>Backend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0" y="3749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Java · Spring Boot 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3337560"/>
            <a:ext cx="2286000" cy="1051560"/>
          </a:xfrm>
          <a:prstGeom prst="rect">
            <a:avLst/>
          </a:prstGeom>
          <a:solidFill>
            <a:srgbClr val="0D2B55"/>
          </a:solidFill>
          <a:ln w="19050">
            <a:solidFill>
              <a:srgbClr val="00ACC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17920" y="34015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CC1"/>
                </a:solidFill>
              </a:rPr>
              <a:t>Database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17920" y="3749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MySQL · JPA/Hibernate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828800" y="47731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Questions? We'd love to hear from you!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Tourist Safety Management System</dc:title>
  <dc:subject>PptxGenJS Presentation</dc:subject>
  <dc:creator>TSMS Project Team</dc:creator>
  <cp:lastModifiedBy>TSMS Project Team</cp:lastModifiedBy>
  <cp:revision>1</cp:revision>
  <dcterms:created xsi:type="dcterms:W3CDTF">2026-03-17T12:33:04Z</dcterms:created>
  <dcterms:modified xsi:type="dcterms:W3CDTF">2026-03-17T12:33:04Z</dcterms:modified>
</cp:coreProperties>
</file>